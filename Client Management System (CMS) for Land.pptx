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736" y="-6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187FCD-03B5-456B-BAF8-5BB8E18176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F242C9-1002-476F-B644-5E6AAFA92B76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7FCD-03B5-456B-BAF8-5BB8E18176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242C9-1002-476F-B644-5E6AAFA92B7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7FCD-03B5-456B-BAF8-5BB8E18176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242C9-1002-476F-B644-5E6AAFA92B76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7FCD-03B5-456B-BAF8-5BB8E18176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242C9-1002-476F-B644-5E6AAFA92B7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7FCD-03B5-456B-BAF8-5BB8E18176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242C9-1002-476F-B644-5E6AAFA92B76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7FCD-03B5-456B-BAF8-5BB8E18176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242C9-1002-476F-B644-5E6AAFA92B76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7FCD-03B5-456B-BAF8-5BB8E18176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242C9-1002-476F-B644-5E6AAFA92B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7FCD-03B5-456B-BAF8-5BB8E18176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242C9-1002-476F-B644-5E6AAFA92B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7FCD-03B5-456B-BAF8-5BB8E18176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242C9-1002-476F-B644-5E6AAFA92B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7FCD-03B5-456B-BAF8-5BB8E18176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242C9-1002-476F-B644-5E6AAFA92B76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7FCD-03B5-456B-BAF8-5BB8E18176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242C9-1002-476F-B644-5E6AAFA92B76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1D187FCD-03B5-456B-BAF8-5BB8E181760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3F242C9-1002-476F-B644-5E6AAFA92B7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cover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Client Management System (CMS) for Land Real Estate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Student Name:</a:t>
            </a:r>
            <a:r>
              <a:rPr lang="en-US" dirty="0"/>
              <a:t> </a:t>
            </a:r>
            <a:r>
              <a:rPr lang="en-US" dirty="0" err="1"/>
              <a:t>Ochom</a:t>
            </a:r>
            <a:r>
              <a:rPr lang="en-US" dirty="0"/>
              <a:t> Marcus </a:t>
            </a:r>
            <a:r>
              <a:rPr lang="en-US" dirty="0" err="1"/>
              <a:t>Ethine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err="1"/>
              <a:t>Reg</a:t>
            </a:r>
            <a:r>
              <a:rPr lang="en-US" b="1" dirty="0"/>
              <a:t> No:</a:t>
            </a:r>
            <a:r>
              <a:rPr lang="en-US" dirty="0"/>
              <a:t> 2025/BCS/153/PS</a:t>
            </a:r>
          </a:p>
        </p:txBody>
      </p:sp>
    </p:spTree>
    <p:extLst>
      <p:ext uri="{BB962C8B-B14F-4D97-AF65-F5344CB8AC3E}">
        <p14:creationId xmlns:p14="http://schemas.microsoft.com/office/powerpoint/2010/main" val="133653735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Problem: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Real estate land sales rely on manual records → inefficiencies, data inconsistencies, poor customer service.</a:t>
            </a:r>
          </a:p>
          <a:p>
            <a:r>
              <a:rPr lang="en-US" b="1" dirty="0"/>
              <a:t>Solution: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 Client Management System (CMS) that centralizes client, property, and sales data.</a:t>
            </a:r>
          </a:p>
          <a:p>
            <a:r>
              <a:rPr lang="en-US" b="1" dirty="0"/>
              <a:t>Technology: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MySQL for data insertion, modification, deletion, and queries.</a:t>
            </a:r>
          </a:p>
          <a:p>
            <a:r>
              <a:rPr lang="en-US" b="1" dirty="0"/>
              <a:t>Outcome: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Better decision-making, improved customer relationships, increased revenue.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Executive Summary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46009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     Purpose</a:t>
            </a:r>
            <a:r>
              <a:rPr lang="en-US" b="1" dirty="0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Solve land ownership disputes and manage client relationships.</a:t>
            </a:r>
          </a:p>
          <a:p>
            <a:pPr marL="0" indent="0">
              <a:buNone/>
            </a:pPr>
            <a:r>
              <a:rPr lang="en-US" b="1" dirty="0" smtClean="0"/>
              <a:t>    Operations </a:t>
            </a:r>
            <a:r>
              <a:rPr lang="en-US" b="1" dirty="0"/>
              <a:t>Supported:</a:t>
            </a:r>
            <a:endParaRPr lang="en-US" dirty="0"/>
          </a:p>
          <a:p>
            <a:r>
              <a:rPr lang="en-US" dirty="0"/>
              <a:t>Client registration &amp; profile management</a:t>
            </a:r>
          </a:p>
          <a:p>
            <a:r>
              <a:rPr lang="en-US" dirty="0"/>
              <a:t>Land listing, tracking, and inquiries</a:t>
            </a:r>
          </a:p>
          <a:p>
            <a:r>
              <a:rPr lang="en-US" dirty="0"/>
              <a:t>Document management (agreements, titles, contracts)</a:t>
            </a:r>
          </a:p>
          <a:p>
            <a:pPr marL="0" indent="0">
              <a:buNone/>
            </a:pPr>
            <a:r>
              <a:rPr lang="en-US" b="1" dirty="0" smtClean="0"/>
              <a:t>    Target </a:t>
            </a:r>
            <a:r>
              <a:rPr lang="en-US" b="1" dirty="0"/>
              <a:t>Users:</a:t>
            </a:r>
            <a:endParaRPr lang="en-US" dirty="0"/>
          </a:p>
          <a:p>
            <a:r>
              <a:rPr lang="en-US" dirty="0"/>
              <a:t>Real estate agents</a:t>
            </a:r>
          </a:p>
          <a:p>
            <a:r>
              <a:rPr lang="en-US" dirty="0" smtClean="0"/>
              <a:t>Administrative </a:t>
            </a:r>
            <a:r>
              <a:rPr lang="en-US" dirty="0"/>
              <a:t>staff</a:t>
            </a:r>
          </a:p>
          <a:p>
            <a:r>
              <a:rPr lang="en-US" dirty="0"/>
              <a:t>Company management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Business Case &amp; Application Domain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47641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Analysis of Benefits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Tangible Benefits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Faster data </a:t>
            </a:r>
            <a:r>
              <a:rPr lang="en-US" dirty="0" smtClean="0"/>
              <a:t>access</a:t>
            </a:r>
          </a:p>
          <a:p>
            <a:r>
              <a:rPr lang="en-US" dirty="0" smtClean="0"/>
              <a:t>increased </a:t>
            </a:r>
            <a:r>
              <a:rPr lang="en-US" dirty="0"/>
              <a:t>sales tracking </a:t>
            </a:r>
            <a:r>
              <a:rPr lang="en-US" dirty="0" smtClean="0"/>
              <a:t>accuracy</a:t>
            </a:r>
          </a:p>
          <a:p>
            <a:r>
              <a:rPr lang="en-US" dirty="0"/>
              <a:t>Better </a:t>
            </a:r>
            <a:r>
              <a:rPr lang="en-US" dirty="0" smtClean="0"/>
              <a:t>reporting</a:t>
            </a:r>
          </a:p>
          <a:p>
            <a:r>
              <a:rPr lang="en-US" dirty="0"/>
              <a:t>Time savings via automation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0" dirty="0"/>
              <a:t>Intangible Benefits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Enhanced customer </a:t>
            </a:r>
            <a:r>
              <a:rPr lang="en-US" dirty="0" smtClean="0"/>
              <a:t>satisfaction</a:t>
            </a:r>
          </a:p>
          <a:p>
            <a:r>
              <a:rPr lang="en-US" dirty="0"/>
              <a:t>Improved </a:t>
            </a:r>
            <a:r>
              <a:rPr lang="en-US" dirty="0" smtClean="0"/>
              <a:t>decision-making</a:t>
            </a:r>
          </a:p>
          <a:p>
            <a:r>
              <a:rPr lang="en-US" dirty="0"/>
              <a:t>Professional company </a:t>
            </a:r>
            <a:r>
              <a:rPr lang="en-US" dirty="0" smtClean="0"/>
              <a:t>image</a:t>
            </a:r>
          </a:p>
          <a:p>
            <a:r>
              <a:rPr lang="en-US" dirty="0"/>
              <a:t>Better staff-client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68332459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Analysis of Costs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Tangible Costs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Hardware (computers, servers</a:t>
            </a:r>
            <a:r>
              <a:rPr lang="en-US" dirty="0" smtClean="0"/>
              <a:t>)</a:t>
            </a:r>
          </a:p>
          <a:p>
            <a:r>
              <a:rPr lang="en-US" dirty="0"/>
              <a:t>Development time &amp; </a:t>
            </a:r>
            <a:r>
              <a:rPr lang="en-US" dirty="0" smtClean="0"/>
              <a:t>labor</a:t>
            </a:r>
          </a:p>
          <a:p>
            <a:r>
              <a:rPr lang="en-US" dirty="0"/>
              <a:t>System maintenance &amp; updates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0" dirty="0"/>
              <a:t>Intangible Costs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Staff </a:t>
            </a:r>
            <a:r>
              <a:rPr lang="en-US" dirty="0" smtClean="0"/>
              <a:t>training</a:t>
            </a:r>
          </a:p>
          <a:p>
            <a:r>
              <a:rPr lang="en-US" dirty="0"/>
              <a:t>Resistance to </a:t>
            </a:r>
            <a:r>
              <a:rPr lang="en-US" dirty="0" smtClean="0"/>
              <a:t>change</a:t>
            </a:r>
          </a:p>
          <a:p>
            <a:r>
              <a:rPr lang="en-US" dirty="0"/>
              <a:t>Time spent transitioning from old systems</a:t>
            </a:r>
          </a:p>
        </p:txBody>
      </p:sp>
    </p:spTree>
    <p:extLst>
      <p:ext uri="{BB962C8B-B14F-4D97-AF65-F5344CB8AC3E}">
        <p14:creationId xmlns:p14="http://schemas.microsoft.com/office/powerpoint/2010/main" val="218503131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Skills Required:</a:t>
            </a:r>
            <a:endParaRPr lang="en-US" dirty="0"/>
          </a:p>
          <a:p>
            <a:r>
              <a:rPr lang="en-US" dirty="0"/>
              <a:t>Basic computer literacy</a:t>
            </a:r>
          </a:p>
          <a:p>
            <a:r>
              <a:rPr lang="en-US" dirty="0"/>
              <a:t>Ability to use database-driven interfaces</a:t>
            </a:r>
          </a:p>
          <a:p>
            <a:r>
              <a:rPr lang="en-US" b="1" dirty="0"/>
              <a:t>Adoption Challenges:</a:t>
            </a:r>
            <a:endParaRPr lang="en-US" dirty="0"/>
          </a:p>
          <a:p>
            <a:r>
              <a:rPr lang="en-US" dirty="0"/>
              <a:t>Resistance from staff used to manual systems</a:t>
            </a:r>
          </a:p>
          <a:p>
            <a:r>
              <a:rPr lang="en-US" dirty="0"/>
              <a:t>Learning curve for new users</a:t>
            </a:r>
          </a:p>
          <a:p>
            <a:r>
              <a:rPr lang="en-US" b="1" dirty="0"/>
              <a:t>Mitigation: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User training and simple interface design.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User Issues &amp; Adoption Challenges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11093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1860594"/>
              </p:ext>
            </p:extLst>
          </p:nvPr>
        </p:nvGraphicFramePr>
        <p:xfrm>
          <a:off x="457200" y="1524000"/>
          <a:ext cx="7924800" cy="4406741"/>
        </p:xfrm>
        <a:graphic>
          <a:graphicData uri="http://schemas.openxmlformats.org/drawingml/2006/table">
            <a:tbl>
              <a:tblPr/>
              <a:tblGrid>
                <a:gridCol w="1780921"/>
                <a:gridCol w="1780921"/>
                <a:gridCol w="4362958"/>
              </a:tblGrid>
              <a:tr h="501632"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>
                          <a:effectLst/>
                          <a:latin typeface="quote-cjk-patch"/>
                        </a:rPr>
                        <a:t>Risk 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Type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  <a:latin typeface="quote-cjk-patch"/>
                        </a:rPr>
                        <a:t>Examples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  <a:latin typeface="quote-cjk-patch"/>
                        </a:rPr>
                        <a:t>Mitigation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187407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Technical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System bugs, data loss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Regular backups, testing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187407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Organizational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Resistance, poor data entry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User training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530295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External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Cyber threats, power failure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Security measures, access control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05800" cy="1600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 Risk Assessment</a:t>
            </a:r>
            <a:br>
              <a:rPr lang="en-US" b="1" dirty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0863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Limited scalability if not designed properly</a:t>
            </a:r>
          </a:p>
          <a:p>
            <a:r>
              <a:rPr lang="en-US" dirty="0"/>
              <a:t>Dependence on technology (downtime affects operations)</a:t>
            </a:r>
          </a:p>
          <a:p>
            <a:r>
              <a:rPr lang="en-US" dirty="0"/>
              <a:t>Requires continuous maintenance &amp; updates</a:t>
            </a:r>
          </a:p>
          <a:p>
            <a:r>
              <a:rPr lang="en-US" dirty="0"/>
              <a:t>Cannot fully eliminate human data entry errors</a:t>
            </a:r>
          </a:p>
          <a:p>
            <a:r>
              <a:rPr lang="en-US" dirty="0"/>
              <a:t>Time-consuming initial implementation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Limitations of the System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9522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Client</a:t>
            </a:r>
            <a:r>
              <a:rPr lang="en-US" dirty="0"/>
              <a:t> – stores client details</a:t>
            </a:r>
          </a:p>
          <a:p>
            <a:r>
              <a:rPr lang="en-US" b="1" dirty="0"/>
              <a:t>Plot</a:t>
            </a:r>
            <a:r>
              <a:rPr lang="en-US" dirty="0"/>
              <a:t> – stores land/property details</a:t>
            </a:r>
          </a:p>
          <a:p>
            <a:r>
              <a:rPr lang="en-US" b="1" dirty="0"/>
              <a:t>Inquiry</a:t>
            </a:r>
            <a:r>
              <a:rPr lang="en-US" dirty="0"/>
              <a:t> – tracks client inquiries on plots</a:t>
            </a:r>
          </a:p>
          <a:p>
            <a:r>
              <a:rPr lang="en-US" b="1" dirty="0"/>
              <a:t>Ownership</a:t>
            </a:r>
            <a:r>
              <a:rPr lang="en-US" dirty="0"/>
              <a:t> – records plot ownership status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Database Design – Entities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59222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6338274"/>
              </p:ext>
            </p:extLst>
          </p:nvPr>
        </p:nvGraphicFramePr>
        <p:xfrm>
          <a:off x="762000" y="1066799"/>
          <a:ext cx="7772400" cy="4678363"/>
        </p:xfrm>
        <a:graphic>
          <a:graphicData uri="http://schemas.openxmlformats.org/drawingml/2006/table">
            <a:tbl>
              <a:tblPr/>
              <a:tblGrid>
                <a:gridCol w="3886200"/>
                <a:gridCol w="3886200"/>
              </a:tblGrid>
              <a:tr h="354353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effectLst/>
                          <a:latin typeface="quote-cjk-patch"/>
                        </a:rPr>
                        <a:t>Entity</a:t>
                      </a:r>
                    </a:p>
                  </a:txBody>
                  <a:tcPr marL="78109" marR="86787" marT="54242" marB="54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effectLst/>
                          <a:latin typeface="quote-cjk-patch"/>
                        </a:rPr>
                        <a:t>Attributes</a:t>
                      </a:r>
                    </a:p>
                  </a:txBody>
                  <a:tcPr marL="86787" marR="86787" marT="54242" marB="54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323219">
                <a:tc>
                  <a:txBody>
                    <a:bodyPr/>
                    <a:lstStyle/>
                    <a:p>
                      <a:r>
                        <a:rPr lang="en-US" sz="1500" b="0">
                          <a:effectLst/>
                          <a:latin typeface="quote-cjk-patch"/>
                        </a:rPr>
                        <a:t>Client</a:t>
                      </a:r>
                    </a:p>
                  </a:txBody>
                  <a:tcPr marL="78109" marR="86787" marT="54242" marB="54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>
                          <a:effectLst/>
                          <a:latin typeface="quote-cjk-patch"/>
                        </a:rPr>
                        <a:t>ClientID, FirstName, LastName, Phone, Email, ClientType</a:t>
                      </a:r>
                    </a:p>
                  </a:txBody>
                  <a:tcPr marL="86787" marR="78109" marT="54242" marB="54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6570">
                <a:tc>
                  <a:txBody>
                    <a:bodyPr/>
                    <a:lstStyle/>
                    <a:p>
                      <a:r>
                        <a:rPr lang="en-US" sz="1500" b="0">
                          <a:effectLst/>
                          <a:latin typeface="quote-cjk-patch"/>
                        </a:rPr>
                        <a:t>Plot</a:t>
                      </a:r>
                    </a:p>
                  </a:txBody>
                  <a:tcPr marL="78109" marR="86787" marT="54242" marB="54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>
                          <a:effectLst/>
                          <a:latin typeface="quote-cjk-patch"/>
                        </a:rPr>
                        <a:t>PlotID, Location, Size, Price</a:t>
                      </a:r>
                    </a:p>
                  </a:txBody>
                  <a:tcPr marL="86787" marR="78109" marT="54242" marB="54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81002">
                <a:tc>
                  <a:txBody>
                    <a:bodyPr/>
                    <a:lstStyle/>
                    <a:p>
                      <a:r>
                        <a:rPr lang="en-US" sz="1500" b="0">
                          <a:effectLst/>
                          <a:latin typeface="quote-cjk-patch"/>
                        </a:rPr>
                        <a:t>Inquiry</a:t>
                      </a:r>
                    </a:p>
                  </a:txBody>
                  <a:tcPr marL="78109" marR="86787" marT="54242" marB="54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>
                          <a:effectLst/>
                          <a:latin typeface="quote-cjk-patch"/>
                        </a:rPr>
                        <a:t>InquiryID, ClientID, PlotID, InquiryDate, InquiryStatus</a:t>
                      </a:r>
                    </a:p>
                  </a:txBody>
                  <a:tcPr marL="86787" marR="78109" marT="54242" marB="54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323219">
                <a:tc>
                  <a:txBody>
                    <a:bodyPr/>
                    <a:lstStyle/>
                    <a:p>
                      <a:r>
                        <a:rPr lang="en-US" sz="1500" b="0">
                          <a:effectLst/>
                          <a:latin typeface="quote-cjk-patch"/>
                        </a:rPr>
                        <a:t>Ownership</a:t>
                      </a:r>
                    </a:p>
                  </a:txBody>
                  <a:tcPr marL="78109" marR="86787" marT="54242" marB="54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 err="1">
                          <a:effectLst/>
                          <a:latin typeface="quote-cjk-patch"/>
                        </a:rPr>
                        <a:t>OwnershipID</a:t>
                      </a:r>
                      <a:r>
                        <a:rPr lang="en-US" sz="1500" b="0" dirty="0">
                          <a:effectLst/>
                          <a:latin typeface="quote-cjk-patch"/>
                        </a:rPr>
                        <a:t>, </a:t>
                      </a:r>
                      <a:r>
                        <a:rPr lang="en-US" sz="1500" b="0" dirty="0" err="1">
                          <a:effectLst/>
                          <a:latin typeface="quote-cjk-patch"/>
                        </a:rPr>
                        <a:t>OwnershipStatus</a:t>
                      </a:r>
                      <a:r>
                        <a:rPr lang="en-US" sz="1500" b="0" dirty="0">
                          <a:effectLst/>
                          <a:latin typeface="quote-cjk-patch"/>
                        </a:rPr>
                        <a:t>, </a:t>
                      </a:r>
                      <a:r>
                        <a:rPr lang="en-US" sz="1500" b="0" dirty="0" err="1">
                          <a:effectLst/>
                          <a:latin typeface="quote-cjk-patch"/>
                        </a:rPr>
                        <a:t>PlotID</a:t>
                      </a:r>
                      <a:r>
                        <a:rPr lang="en-US" sz="1500" b="0" dirty="0">
                          <a:effectLst/>
                          <a:latin typeface="quote-cjk-patch"/>
                        </a:rPr>
                        <a:t>, </a:t>
                      </a:r>
                      <a:r>
                        <a:rPr lang="en-US" sz="1500" b="0" dirty="0" err="1">
                          <a:effectLst/>
                          <a:latin typeface="quote-cjk-patch"/>
                        </a:rPr>
                        <a:t>ClientID</a:t>
                      </a:r>
                      <a:r>
                        <a:rPr lang="en-US" sz="1500" b="0" dirty="0">
                          <a:effectLst/>
                          <a:latin typeface="quote-cjk-patch"/>
                        </a:rPr>
                        <a:t>, </a:t>
                      </a:r>
                      <a:r>
                        <a:rPr lang="en-US" sz="1500" b="0" dirty="0" err="1">
                          <a:effectLst/>
                          <a:latin typeface="quote-cjk-patch"/>
                        </a:rPr>
                        <a:t>TitleStatus</a:t>
                      </a:r>
                      <a:endParaRPr lang="en-US" sz="1500" b="0" dirty="0">
                        <a:effectLst/>
                        <a:latin typeface="quote-cjk-patch"/>
                      </a:endParaRPr>
                    </a:p>
                  </a:txBody>
                  <a:tcPr marL="86787" marR="78109" marT="54242" marB="54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8305800" cy="12954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Attributes per Entity</a:t>
            </a:r>
            <a:br>
              <a:rPr lang="en-US" b="1" dirty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97293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Client → Inquiry:</a:t>
            </a:r>
            <a:r>
              <a:rPr lang="en-US" dirty="0"/>
              <a:t> One-to-Many</a:t>
            </a:r>
          </a:p>
          <a:p>
            <a:r>
              <a:rPr lang="en-US" b="1" dirty="0"/>
              <a:t>Plot → Inquiry:</a:t>
            </a:r>
            <a:r>
              <a:rPr lang="en-US" dirty="0"/>
              <a:t> One-to-Many</a:t>
            </a:r>
          </a:p>
          <a:p>
            <a:r>
              <a:rPr lang="en-US" b="1" dirty="0"/>
              <a:t>Client → Ownership:</a:t>
            </a:r>
            <a:r>
              <a:rPr lang="en-US" dirty="0"/>
              <a:t> One-to-Many</a:t>
            </a:r>
          </a:p>
          <a:p>
            <a:r>
              <a:rPr lang="en-US" b="1" dirty="0"/>
              <a:t>Plot → Ownership:</a:t>
            </a:r>
            <a:r>
              <a:rPr lang="en-US" dirty="0"/>
              <a:t> One-to-One (current) or One-to-Many (historical)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Entity Relationships</a:t>
            </a:r>
            <a:br>
              <a:rPr lang="en-US" b="1" dirty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99622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76400"/>
            <a:ext cx="7146344" cy="4789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 Entity Relationship Diagram (ERD)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94324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1371600"/>
            <a:ext cx="6718645" cy="179714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SQL Implementation – Table Creation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914400" y="3276600"/>
            <a:ext cx="6934200" cy="159194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990600" y="5105400"/>
            <a:ext cx="6934200" cy="163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89476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1524000"/>
            <a:ext cx="6617040" cy="192414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Sample Data Insertion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914400" y="3657600"/>
            <a:ext cx="69342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62012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5811" y="2247900"/>
            <a:ext cx="6712377" cy="38782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 More Sample Queries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92533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685800"/>
            <a:ext cx="77724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16140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The</a:t>
            </a:r>
            <a:r>
              <a:rPr lang="en-US" dirty="0"/>
              <a:t> </a:t>
            </a:r>
            <a:r>
              <a:rPr lang="en-US" b="1" dirty="0"/>
              <a:t>Land Client Management System</a:t>
            </a:r>
            <a:r>
              <a:rPr lang="en-US" dirty="0"/>
              <a:t> successfully:</a:t>
            </a:r>
          </a:p>
          <a:p>
            <a:r>
              <a:rPr lang="en-US" dirty="0"/>
              <a:t>Digitizes real estate data management</a:t>
            </a:r>
          </a:p>
          <a:p>
            <a:r>
              <a:rPr lang="en-US" dirty="0"/>
              <a:t>Translates business needs into a functional relational database</a:t>
            </a:r>
          </a:p>
          <a:p>
            <a:r>
              <a:rPr lang="en-US" dirty="0"/>
              <a:t>Improves efficiency, transparency, and customer service</a:t>
            </a:r>
          </a:p>
          <a:p>
            <a:r>
              <a:rPr lang="en-US" dirty="0"/>
              <a:t>Provides a scalable foundation for future enhancements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Conclusion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23597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253</TotalTime>
  <Words>253</Words>
  <Application>Microsoft Office PowerPoint</Application>
  <PresentationFormat>On-screen Show (4:3)</PresentationFormat>
  <Paragraphs>98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Hardcover</vt:lpstr>
      <vt:lpstr>Client Management System (CMS) for Land Real Estate</vt:lpstr>
      <vt:lpstr>Executive Summary </vt:lpstr>
      <vt:lpstr>Business Case &amp; Application Domain </vt:lpstr>
      <vt:lpstr>Analysis of Benefits </vt:lpstr>
      <vt:lpstr>Analysis of Costs </vt:lpstr>
      <vt:lpstr>User Issues &amp; Adoption Challenges </vt:lpstr>
      <vt:lpstr> Risk Assessment  </vt:lpstr>
      <vt:lpstr>Limitations of the System </vt:lpstr>
      <vt:lpstr>Database Design – Entities </vt:lpstr>
      <vt:lpstr>Attributes per Entity  </vt:lpstr>
      <vt:lpstr>Entity Relationships  </vt:lpstr>
      <vt:lpstr> Entity Relationship Diagram (ERD) </vt:lpstr>
      <vt:lpstr>SQL Implementation – Table Creation </vt:lpstr>
      <vt:lpstr>Sample Data Insertion </vt:lpstr>
      <vt:lpstr> More Sample Queries </vt:lpstr>
      <vt:lpstr>PowerPoint Presentation</vt:lpstr>
      <vt:lpstr>Conclusion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Management System (CMS) for Land Real Estate</dc:title>
  <dc:creator>Lenovo</dc:creator>
  <cp:lastModifiedBy>Lenovo</cp:lastModifiedBy>
  <cp:revision>10</cp:revision>
  <dcterms:created xsi:type="dcterms:W3CDTF">2026-05-06T11:15:40Z</dcterms:created>
  <dcterms:modified xsi:type="dcterms:W3CDTF">2026-05-06T19:22:57Z</dcterms:modified>
</cp:coreProperties>
</file>